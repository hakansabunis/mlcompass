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10058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5600" b="1" i="0">
                <a:solidFill>
                  <a:srgbClr val="0F172A"/>
                </a:solidFill>
                <a:latin typeface="Calibri"/>
              </a:rPr>
              <a:t>mlcompass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515600" cy="1371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400" b="0" i="1">
                <a:solidFill>
                  <a:srgbClr val="1E40AF"/>
                </a:solidFill>
                <a:latin typeface="Calibri"/>
              </a:rPr>
              <a:t>A Schema-Bounded LLM Narrator for Machine-Learning Pipeline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5156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  <a:latin typeface="Calibri"/>
              </a:rPr>
              <a:t>Hakan Sabuniş   ·   Yusuf Ünlü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0515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Istanbul Medipol University   ·   School of Engineering and Natural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github.com/hakansabunis/mlcompass     ·     pypi.org/project/mlcompass     ·     v0.8.1     ·     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2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914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mlcompass — Capstone Project — Sabuniş &amp; Ünlü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200" b="0" i="1">
                <a:solidFill>
                  <a:srgbClr val="1E40AF"/>
                </a:solidFill>
                <a:latin typeface="Calibri"/>
              </a:rPr>
              <a:t>ML engineering is a chain of single-purpose tools — and none of them advise.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972800" cy="3657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 pandas-profiling shows you the data.</a:t>
            </a:r>
          </a:p>
          <a:p>
            <a:pPr lvl="1" algn="l">
              <a:spcBef>
                <a:spcPts val="200"/>
              </a:spcBef>
              <a:spcAft>
                <a:spcPts val="200"/>
              </a:spcAft>
            </a:pPr>
            <a:r>
              <a:rPr sz="1500" i="1">
                <a:solidFill>
                  <a:srgbClr val="6B7280"/>
                </a:solidFill>
                <a:latin typeface="Calibri"/>
              </a:rPr>
              <a:t>It doesn't know which column you're trying to predict.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 Weights &amp; Biases tracks your runs.</a:t>
            </a:r>
          </a:p>
          <a:p>
            <a:pPr lvl="1" algn="l">
              <a:spcBef>
                <a:spcPts val="200"/>
              </a:spcBef>
              <a:spcAft>
                <a:spcPts val="200"/>
              </a:spcAft>
            </a:pPr>
            <a:r>
              <a:rPr sz="1500" i="1">
                <a:solidFill>
                  <a:srgbClr val="6B7280"/>
                </a:solidFill>
                <a:latin typeface="Calibri"/>
              </a:rPr>
              <a:t>It doesn't tell you the loss curve looks like overfitting.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 Copilot and Cursor complete your code.</a:t>
            </a:r>
          </a:p>
          <a:p>
            <a:pPr lvl="1" algn="l">
              <a:spcBef>
                <a:spcPts val="200"/>
              </a:spcBef>
              <a:spcAft>
                <a:spcPts val="200"/>
              </a:spcAft>
            </a:pPr>
            <a:r>
              <a:rPr sz="1500" i="1">
                <a:solidFill>
                  <a:srgbClr val="6B7280"/>
                </a:solidFill>
                <a:latin typeface="Calibri"/>
              </a:rPr>
              <a:t>They'll happily generate Adam(momentum=0.9) — which is invalid.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 Existing LLM assistants hallucinate.</a:t>
            </a:r>
          </a:p>
          <a:p>
            <a:pPr lvl="1" algn="l">
              <a:spcBef>
                <a:spcPts val="200"/>
              </a:spcBef>
              <a:spcAft>
                <a:spcPts val="200"/>
              </a:spcAft>
            </a:pPr>
            <a:r>
              <a:rPr sz="1500" i="1">
                <a:solidFill>
                  <a:srgbClr val="6B7280"/>
                </a:solidFill>
                <a:latin typeface="Calibri"/>
              </a:rPr>
              <a:t>They invent column names that don't exist and propose fixes for problems that aren't real.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146,932 hallucinated citations were observed across arXiv, bioRxiv and SSRN in 2025 alone [Zhao et al., 2026].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mlcompass in 30 seconds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2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914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mlcompass — Capstone Project — Sabuniş &amp; Ünlü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200" b="0" i="1">
                <a:solidFill>
                  <a:srgbClr val="1E40AF"/>
                </a:solidFill>
                <a:latin typeface="Calibri"/>
              </a:rPr>
              <a:t>An open-source CLI that follows you through the whole ML pipeline — and is allowed to explain but not to invent.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0972800" cy="3291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5156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Eleven commands cover every pipeline stage: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000" b="0" i="0">
                <a:solidFill>
                  <a:srgbClr val="1E40AF"/>
                </a:solidFill>
                <a:latin typeface="Consolas"/>
              </a:rPr>
              <a:t>init  →  advise  →  audit  →  watch  →  compare  →  evaluate  →  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105156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0" i="0">
                <a:solidFill>
                  <a:srgbClr val="6B7280"/>
                </a:solidFill>
                <a:latin typeface="Consolas"/>
              </a:rPr>
              <a:t>+   status   ·   monitor   ·   optimize   ·  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5156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Four surfaces, one tool layer: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0" i="1">
                <a:solidFill>
                  <a:srgbClr val="0F172A"/>
                </a:solidFill>
                <a:latin typeface="Calibri"/>
              </a:rPr>
              <a:t>CLI   ·   MCP server (Claude Desktop / Cursor / Claude Code)   ·   Self-driving agent   ·   Slash commands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Shared on-disk project context (.mlcompass/) so we remember what was decided yesterday.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2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914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mlcompass — Capstone Project — Sabuniş &amp; Ünlü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Three user-facing surfaces sit on top of a two-layer brain over a persistent project-context folder.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035040"/>
            <a:ext cx="85039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Fig. 1.  mlcompass system architecture (also Fig. 1 in the paper).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428611-B8EF-33E6-4910-856C289E80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349"/>
          <a:stretch>
            <a:fillRect/>
          </a:stretch>
        </p:blipFill>
        <p:spPr>
          <a:xfrm>
            <a:off x="3293806" y="1668017"/>
            <a:ext cx="5908320" cy="40012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The two-layer brain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2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914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mlcompass — Capstone Project — Sabuniş &amp; Ünlü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0" i="1">
                <a:solidFill>
                  <a:srgbClr val="1E40AF"/>
                </a:solidFill>
                <a:latin typeface="Calibri"/>
              </a:rPr>
              <a:t>Facts come from pure code.  Narration comes from a Claude agent on top, never the other way around.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303520" cy="42062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50292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1" i="0">
                <a:solidFill>
                  <a:srgbClr val="1E40AF"/>
                </a:solidFill>
                <a:latin typeface="Calibri"/>
              </a:rPr>
              <a:t>Deterministic Tool Layer  (pure Python)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5029200" cy="32004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 Reads CSVs with pandas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 Parses training scripts with ast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 Computes Pearson + Spearman + perfect-match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 Returns structured dict — never free text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 Cannot hallucinate by 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5029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onsolas"/>
              </a:rPr>
              <a:t>src/mlcompass/tools/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303520" cy="420624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952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  <a:latin typeface="Calibri"/>
              </a:rPr>
              <a:t>Optional Claude Narrator  (--llm)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 Receives the dict from below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 Explains it in natural language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 Runs under a 3-layer contract (next slide)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 Bound at call time to the evidence's column set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 Skipped entirely with --no-llm  (offline path)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669280"/>
            <a:ext cx="5029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onsolas"/>
              </a:rPr>
              <a:t>src/mlcompass/agents/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The anti-hallucination 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2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914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mlcompass — Capstone Project — Sabuniş &amp; Ünlü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000" b="0" i="1">
                <a:solidFill>
                  <a:srgbClr val="1E40AF"/>
                </a:solidFill>
                <a:latin typeface="Calibri"/>
              </a:rPr>
              <a:t>Three layers.  Each one alone is weak.  Together they are strict.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657600" cy="4206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2103120"/>
            <a:ext cx="347472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800" b="1" i="0">
                <a:solidFill>
                  <a:srgbClr val="1E40AF"/>
                </a:solidFill>
                <a:latin typeface="Calibri"/>
              </a:rPr>
              <a:t>Layer 1
Deterministic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3291840" cy="25603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 Pure Python.  No LLM.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 Computes max(|ρ_P|, |ρ_S|).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 Emits a dict E of candidate leak columns.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20240"/>
            <a:ext cx="3657600" cy="4206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79" y="2103120"/>
            <a:ext cx="347472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  <a:latin typeface="Calibri"/>
              </a:rPr>
              <a:t>Layer 2
Strict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00400"/>
            <a:ext cx="3291840" cy="25603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 Cite only items in E.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 Say cannot_determine when unsure.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 No code patches — manual checks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3657600" cy="4206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47472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800" b="1" i="0">
                <a:solidFill>
                  <a:srgbClr val="C0366E"/>
                </a:solidFill>
                <a:latin typeface="Calibri"/>
              </a:rPr>
              <a:t>Layer 3
Runtime schema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00400"/>
            <a:ext cx="3291840" cy="25603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 Tool-input enum is generated from E.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 SDK rejects any out-of-evidence column.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 Worst-case guarantee, not just guidance.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Layer 3 is the load-bearing piece — prompts are advisory, schemas are enforcement.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Worked example — Ames House Prices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2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914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mlcompass — Capstone Project — Sabuniş &amp; Ünlü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700" b="0" i="1">
                <a:solidFill>
                  <a:srgbClr val="1E40AF"/>
                </a:solidFill>
                <a:latin typeface="Calibri"/>
              </a:rPr>
              <a:t>A user accidentally includes log_price when training a model to predict saleprice.  R² = 1.000.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972800" cy="4297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6070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1" i="0">
                <a:solidFill>
                  <a:srgbClr val="1E40AF"/>
                </a:solidFill>
                <a:latin typeface="Calibri"/>
              </a:rPr>
              <a:t>Layer 1 —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79"/>
            <a:ext cx="104241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onsolas"/>
              </a:rPr>
              <a:t>Pearson ρ_P(log_price, y) ≈ 0.94    ·    Spearman ρ_S = 1.00    ·    perfect-match 98.7 %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39"/>
            <a:ext cx="104241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→ log_price flagged as candidate (max correlation = 1.00, threshold 0.97).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79"/>
            <a:ext cx="106070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1" i="0">
                <a:solidFill>
                  <a:srgbClr val="1E40AF"/>
                </a:solidFill>
                <a:latin typeface="Calibri"/>
              </a:rPr>
              <a:t>Layer 2 — Narrator (Claude)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39"/>
            <a:ext cx="104241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onsolas"/>
              </a:rPr>
              <a:t>"log_price has Spearman = 1.00 with the target — almost certainly a transformed leak.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104241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Recommend manually checking the feature pipeline for any column derived from the target."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106070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1" i="0">
                <a:solidFill>
                  <a:srgbClr val="1E40AF"/>
                </a:solidFill>
                <a:latin typeface="Calibri"/>
              </a:rPr>
              <a:t>Layer 3 — Schema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29200"/>
            <a:ext cx="104241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onsolas"/>
              </a:rPr>
              <a:t>columns_referenced  enum = {log_price, near_proxy, feature_3, …, feature_12}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94959"/>
            <a:ext cx="104241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log_price ∈ enum → response ships.   If the LLM had emitted 'revenue', SDK would reject and retry.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Results — phantom-column fabrication 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2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914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mlcompass — Capstone Project — Sabuniş &amp; Ünlü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Synthetic regression test set.   N = 200 narrator responses per configuration.   Claude 3.5 Sonnet.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1920240"/>
          <a:ext cx="9418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Calibri"/>
                        </a:rPr>
                        <a:t>Wilson 95% CI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Calibri"/>
                        </a:rPr>
                        <a:t>Layer 1   (no prompt, no schema)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40AF"/>
                          </a:solidFill>
                          <a:latin typeface="Calibri"/>
                        </a:rPr>
                        <a:t>8.0 %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Calibri"/>
                        </a:rPr>
                        <a:t>[ 4.93 ,  12.66 ]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Calibri"/>
                        </a:rPr>
                        <a:t>Layer 1 + 2   (strict prompt)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40AF"/>
                          </a:solidFill>
                          <a:latin typeface="Calibri"/>
                        </a:rPr>
                        <a:t>1.0 %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Calibri"/>
                        </a:rPr>
                        <a:t>[ 0.27 ,   3.56 ]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Calibri"/>
                        </a:rPr>
                        <a:t>Layer 1 + 2 + 3   (schema-enforced)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40AF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Calibri"/>
                        </a:rPr>
                        <a:t>[ 0.00 ,   1.83 ]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937760"/>
            <a:ext cx="10972800" cy="118872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69848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1" i="0">
                <a:solidFill>
                  <a:srgbClr val="1E40AF"/>
                </a:solidFill>
                <a:latin typeface="Calibri"/>
              </a:rPr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40680"/>
            <a:ext cx="1069848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0" i="1">
                <a:solidFill>
                  <a:srgbClr val="0F172A"/>
                </a:solidFill>
                <a:latin typeface="Calibri"/>
              </a:rPr>
              <a:t>Prompt engineering reduces fabrication 8× (8.0 % → 1.0 %), but does not eliminate it.   The runtime schema boundary brings the observed rate to 0 — a worst-case guarantee, not just an average.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Field tests — 5 Kaggle datasets, 11 real bugs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2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914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mlcompass — Capstone Project — Sabuniş &amp; Ünlü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Every release dry-ran on a real Kaggle dataset before shipping.  Each bug locked in by a regression test.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828800"/>
          <a:ext cx="103327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latin typeface="Calibri"/>
                        </a:rPr>
                        <a:t>Dataset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latin typeface="Calibri"/>
                        </a:rPr>
                        <a:t>Patch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latin typeface="Calibri"/>
                        </a:rPr>
                        <a:t>Bugs caught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Telco Churn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baseline — pipeline runs end-to-end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Ames House Prices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v0.7.0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missing target name, year-col, sparse-col crash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Titanic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v0.7.1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missing 'survived' target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Penguins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v0.7.2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multiclass mis-detected, MCP ledger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Insurance 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v0.7.3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missing 'charges' target, MCP state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21208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FEF3F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440680"/>
            <a:ext cx="10698480" cy="5029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0" i="1">
                <a:solidFill>
                  <a:srgbClr val="0F172A"/>
                </a:solidFill>
                <a:latin typeface="Calibri"/>
              </a:rPr>
              <a:t>Real datasets find bugs synthetic ones don't — none of the 11 bugs had been anticipated by our unit-test suite.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The 11 slash commands &amp; 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2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914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mlcompass — Capstone Project — Sabuniş &amp; Ünlü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Eleven Claude Code slash commands — each maps to one mlcompass tool.  Installed with one command, no JSON config.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035040" cy="4572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00784"/>
            <a:ext cx="58521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1" i="0">
                <a:solidFill>
                  <a:srgbClr val="A7F3D0"/>
                </a:solidFill>
                <a:latin typeface="Consolas"/>
              </a:rPr>
              <a:t>$  mlcompass install-slash-commands --scope 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2788920" cy="86868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404872"/>
            <a:ext cx="2569463" cy="32918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  <a:latin typeface="Consolas"/>
              </a:rPr>
              <a:t>/mlc-init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752344"/>
            <a:ext cx="2569463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Start a new mlcompass project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8" y="2331720"/>
            <a:ext cx="2788920" cy="86868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48456" y="2404872"/>
            <a:ext cx="2569463" cy="32918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  <a:latin typeface="Consolas"/>
              </a:rPr>
              <a:t>/mlc-advise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752344"/>
            <a:ext cx="2569463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Analyze CSV — target, warnings,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7376" y="2331720"/>
            <a:ext cx="278892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47104" y="2404872"/>
            <a:ext cx="2569463" cy="32918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  <a:latin typeface="Consolas"/>
              </a:rPr>
              <a:t>/mlc-audit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2752344"/>
            <a:ext cx="2569463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Static analysis of training script (8 rules)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6024" y="2331720"/>
            <a:ext cx="278892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45751" y="2404872"/>
            <a:ext cx="2569463" cy="32918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  <a:latin typeface="Consolas"/>
              </a:rPr>
              <a:t>/mlc-watch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1" y="2752344"/>
            <a:ext cx="2569463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Scan log: NaN / divergence / overfit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91839"/>
            <a:ext cx="278892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3364991"/>
            <a:ext cx="2569463" cy="32918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  <a:latin typeface="Consolas"/>
              </a:rPr>
              <a:t>/mlc-compare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712463"/>
            <a:ext cx="2569463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Side-by-side diff of two training runs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38728" y="3291839"/>
            <a:ext cx="2788920" cy="86868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48456" y="3364991"/>
            <a:ext cx="2569463" cy="32918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  <a:latin typeface="Consolas"/>
              </a:rPr>
              <a:t>/mlc-evaluate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48456" y="3712463"/>
            <a:ext cx="2569463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Metrics + auto leakage panel on perfect R²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37376" y="3291839"/>
            <a:ext cx="278892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47104" y="3364991"/>
            <a:ext cx="2569463" cy="32918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  <a:latin typeface="Consolas"/>
              </a:rPr>
              <a:t>/mlc-leak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3712463"/>
            <a:ext cx="2569463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Focused leakage check on predictions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36024" y="3291839"/>
            <a:ext cx="278892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45751" y="3364991"/>
            <a:ext cx="2569463" cy="32918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  <a:latin typeface="Consolas"/>
              </a:rPr>
              <a:t>/mlc-deploy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5751" y="3712463"/>
            <a:ext cx="2569463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Production-readiness check (Lambda / Docker)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251960"/>
            <a:ext cx="2788920" cy="86868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" y="4325112"/>
            <a:ext cx="2569463" cy="32918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  <a:latin typeface="Consolas"/>
              </a:rPr>
              <a:t>/mlc-status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4672584"/>
            <a:ext cx="2569463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Show project history + current state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38728" y="4251960"/>
            <a:ext cx="2788920" cy="868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48456" y="4325112"/>
            <a:ext cx="2569463" cy="32918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  <a:latin typeface="Consolas"/>
              </a:rPr>
              <a:t>/mlc-monitor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48456" y="4672584"/>
            <a:ext cx="2569463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PSI / KS / chi² drift (CLI fallback)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37376" y="4251960"/>
            <a:ext cx="2788920" cy="868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47104" y="4325112"/>
            <a:ext cx="2569463" cy="32918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  <a:latin typeface="Consolas"/>
              </a:rPr>
              <a:t>/mlc-optimize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7104" y="4672584"/>
            <a:ext cx="2569463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HPO recommender (CLI fallback)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303520"/>
            <a:ext cx="10972800" cy="13258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5394959"/>
            <a:ext cx="594360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 i="0">
                <a:solidFill>
                  <a:srgbClr val="A7F3D0"/>
                </a:solidFill>
                <a:latin typeface="Consolas"/>
              </a:rPr>
              <a:t>›  /mlc-init insurance-demo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5394959"/>
            <a:ext cx="475488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1">
                <a:solidFill>
                  <a:srgbClr val="CBD5E1"/>
                </a:solidFill>
                <a:latin typeface="Calibri"/>
              </a:rPr>
              <a:t>→ .mlcompass/ project folder created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5669279"/>
            <a:ext cx="594360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 i="0">
                <a:solidFill>
                  <a:srgbClr val="A7F3D0"/>
                </a:solidFill>
                <a:latin typeface="Consolas"/>
              </a:rPr>
              <a:t>›  /mlc-advise demo-data/insurance.csv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669279"/>
            <a:ext cx="475488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1">
                <a:solidFill>
                  <a:srgbClr val="CBD5E1"/>
                </a:solidFill>
                <a:latin typeface="Calibri"/>
              </a:rPr>
              <a:t>→ target = 'charges', regression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943599"/>
            <a:ext cx="594360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 i="0">
                <a:solidFill>
                  <a:srgbClr val="A7F3D0"/>
                </a:solidFill>
                <a:latin typeface="Consolas"/>
              </a:rPr>
              <a:t>›  /mlc-evaluate demo-data/predictions_with_leak.csv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943599"/>
            <a:ext cx="475488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1">
                <a:solidFill>
                  <a:srgbClr val="CBD5E1"/>
                </a:solidFill>
                <a:latin typeface="Calibri"/>
              </a:rPr>
              <a:t>→ R² = 1.000 → automatic leakage panel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6217919"/>
            <a:ext cx="594360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 i="0">
                <a:solidFill>
                  <a:srgbClr val="A7F3D0"/>
                </a:solidFill>
                <a:latin typeface="Consolas"/>
              </a:rPr>
              <a:t>›  /mlc-status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6217919"/>
            <a:ext cx="475488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1">
                <a:solidFill>
                  <a:srgbClr val="CBD5E1"/>
                </a:solidFill>
                <a:latin typeface="Calibri"/>
              </a:rPr>
              <a:t>→ project history summary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Highlighted cards = used in today's demo · Dashed-style (gray) = CLI fallback · Backup: pre-recorded MP4 on USB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Challenges we faced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2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914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mlcompass — Capstone Project — Sabuniş &amp; Ünlü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0" i="1">
                <a:solidFill>
                  <a:srgbClr val="1E40AF"/>
                </a:solidFill>
                <a:latin typeface="Calibri"/>
              </a:rPr>
              <a:t>Four problems we hit, and what we learned.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 Prompt engineering wasn't enough.</a:t>
            </a:r>
          </a:p>
          <a:p>
            <a:pPr lvl="1" algn="l">
              <a:spcBef>
                <a:spcPts val="200"/>
              </a:spcBef>
              <a:spcAft>
                <a:spcPts val="200"/>
              </a:spcAft>
            </a:pPr>
            <a:r>
              <a:rPr sz="1300" i="1">
                <a:solidFill>
                  <a:srgbClr val="6B7280"/>
                </a:solidFill>
                <a:latin typeface="Calibri"/>
              </a:rPr>
              <a:t>We spent a week trying to make the LLM stop fabricating columns through prompts alone.  Got from 8 % to 1 %.  Still wrong 1 % of the time.  Fix: enforce at the schema layer, not the prompt layer.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 CLI and MCP server drifted apart.</a:t>
            </a:r>
          </a:p>
          <a:p>
            <a:pPr lvl="1" algn="l">
              <a:spcBef>
                <a:spcPts val="200"/>
              </a:spcBef>
              <a:spcAft>
                <a:spcPts val="200"/>
              </a:spcAft>
            </a:pPr>
            <a:r>
              <a:rPr sz="1300" i="1">
                <a:solidFill>
                  <a:srgbClr val="6B7280"/>
                </a:solidFill>
                <a:latin typeface="Calibri"/>
              </a:rPr>
              <a:t>Same underlying functions, different behavior.  CLI was writing to the ledger, MCP wasn't.  Shipped a shared _persist_to_ledger helper + parity regression tests in v0.7.2 and v0.7.3.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 Synthetic unit tests missed real bugs.</a:t>
            </a:r>
          </a:p>
          <a:p>
            <a:pPr lvl="1" algn="l">
              <a:spcBef>
                <a:spcPts val="200"/>
              </a:spcBef>
              <a:spcAft>
                <a:spcPts val="200"/>
              </a:spcAft>
            </a:pPr>
            <a:r>
              <a:rPr sz="1300" i="1">
                <a:solidFill>
                  <a:srgbClr val="6B7280"/>
                </a:solidFill>
                <a:latin typeface="Calibri"/>
              </a:rPr>
              <a:t>Eleven bugs surfaced from 5 Kaggle datasets — zero predicted from our pre-existing test suite.  Moved to a field-test-then-patch release cadence.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 Reviewer feedback on the paper.</a:t>
            </a:r>
          </a:p>
          <a:p>
            <a:pPr lvl="1" algn="l">
              <a:spcBef>
                <a:spcPts val="200"/>
              </a:spcBef>
              <a:spcAft>
                <a:spcPts val="200"/>
              </a:spcAft>
            </a:pPr>
            <a:r>
              <a:rPr sz="1300" i="1">
                <a:solidFill>
                  <a:srgbClr val="6B7280"/>
                </a:solidFill>
                <a:latin typeface="Calibri"/>
              </a:rPr>
              <a:t>Three peer reviewers identified weak statistical claims, missing baselines, implicit threat model.  Released v0.8.1 with Wilson 95 % CIs, reproducibility scripts, threat model doc, limitations doc, per-bug detail.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Limitations  + 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20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914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mlcompass — Capstone Project — Sabuniş &amp; Ünlü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30352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Calibri"/>
              </a:rPr>
              <a:t>What we did NOT 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303520" cy="43891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Cross-model generalization</a:t>
            </a:r>
          </a:p>
          <a:p>
            <a:pPr lvl="1" algn="l">
              <a:spcBef>
                <a:spcPts val="200"/>
              </a:spcBef>
              <a:spcAft>
                <a:spcPts val="200"/>
              </a:spcAft>
            </a:pPr>
            <a:r>
              <a:rPr sz="1200" i="1">
                <a:solidFill>
                  <a:srgbClr val="6B7280"/>
                </a:solidFill>
                <a:latin typeface="Calibri"/>
              </a:rPr>
              <a:t>All experiments use Claude 3.5 Sonnet.  GPT-4 / Llama-3 / Gemini behavior unverified.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Constrained-generation baseline</a:t>
            </a:r>
          </a:p>
          <a:p>
            <a:pPr lvl="1" algn="l">
              <a:spcBef>
                <a:spcPts val="200"/>
              </a:spcBef>
              <a:spcAft>
                <a:spcPts val="200"/>
              </a:spcAft>
            </a:pPr>
            <a:r>
              <a:rPr sz="1200" i="1">
                <a:solidFill>
                  <a:srgbClr val="6B7280"/>
                </a:solidFill>
                <a:latin typeface="Calibri"/>
              </a:rPr>
              <a:t>We do not directly benchmark against Outlines or OpenAI strict: true mode.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External user study</a:t>
            </a:r>
          </a:p>
          <a:p>
            <a:pPr lvl="1" algn="l">
              <a:spcBef>
                <a:spcPts val="200"/>
              </a:spcBef>
              <a:spcAft>
                <a:spcPts val="200"/>
              </a:spcAft>
            </a:pPr>
            <a:r>
              <a:rPr sz="1200" i="1">
                <a:solidFill>
                  <a:srgbClr val="6B7280"/>
                </a:solidFill>
                <a:latin typeface="Calibri"/>
              </a:rPr>
              <a:t>Used by the two authors + classmates only.  No third-party evaluation.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Other hallucination types</a:t>
            </a:r>
          </a:p>
          <a:p>
            <a:pPr lvl="1" algn="l">
              <a:spcBef>
                <a:spcPts val="200"/>
              </a:spcBef>
              <a:spcAft>
                <a:spcPts val="200"/>
              </a:spcAft>
            </a:pPr>
            <a:r>
              <a:rPr sz="1200" i="1">
                <a:solidFill>
                  <a:srgbClr val="6B7280"/>
                </a:solidFill>
                <a:latin typeface="Calibri"/>
              </a:rPr>
              <a:t>Miscalibrated confidence, causal misattribution, prompt-injection compliance — out of scope.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188720"/>
            <a:ext cx="530352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  <a:latin typeface="Calibri"/>
              </a:rPr>
              <a:t>Planned for v0.9 /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5303520" cy="43891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OpenAI backend</a:t>
            </a:r>
          </a:p>
          <a:p>
            <a:pPr lvl="1" algn="l">
              <a:spcBef>
                <a:spcPts val="200"/>
              </a:spcBef>
              <a:spcAft>
                <a:spcPts val="200"/>
              </a:spcAft>
            </a:pPr>
            <a:r>
              <a:rPr sz="1200" i="1">
                <a:solidFill>
                  <a:srgbClr val="6B7280"/>
                </a:solidFill>
                <a:latin typeface="Calibri"/>
              </a:rPr>
              <a:t>Lets us repeat Table I on GPT-4 + strict: true and report cross-provider rates.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Outlines benchmark</a:t>
            </a:r>
          </a:p>
          <a:p>
            <a:pPr lvl="1" algn="l">
              <a:spcBef>
                <a:spcPts val="200"/>
              </a:spcBef>
              <a:spcAft>
                <a:spcPts val="200"/>
              </a:spcAft>
            </a:pPr>
            <a:r>
              <a:rPr sz="1200" i="1">
                <a:solidFill>
                  <a:srgbClr val="6B7280"/>
                </a:solidFill>
                <a:latin typeface="Calibri"/>
              </a:rPr>
              <a:t>Same task through Outlines on Llama-3-8B.  Side-by-side fabrication rates.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N = 2000 live run</a:t>
            </a:r>
          </a:p>
          <a:p>
            <a:pPr lvl="1" algn="l">
              <a:spcBef>
                <a:spcPts val="200"/>
              </a:spcBef>
              <a:spcAft>
                <a:spcPts val="200"/>
              </a:spcAft>
            </a:pPr>
            <a:r>
              <a:rPr sz="1200" i="1">
                <a:solidFill>
                  <a:srgbClr val="6B7280"/>
                </a:solidFill>
                <a:latin typeface="Calibri"/>
              </a:rPr>
              <a:t>Tightens Wilson CIs.  Reproducible via scripts/reproduce_hallucination_ablation.py.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Plug-in system</a:t>
            </a:r>
          </a:p>
          <a:p>
            <a:pPr lvl="1" algn="l">
              <a:spcBef>
                <a:spcPts val="200"/>
              </a:spcBef>
              <a:spcAft>
                <a:spcPts val="200"/>
              </a:spcAft>
            </a:pPr>
            <a:r>
              <a:rPr sz="1200" i="1">
                <a:solidFill>
                  <a:srgbClr val="6B7280"/>
                </a:solidFill>
                <a:latin typeface="Calibri"/>
              </a:rPr>
              <a:t>Domain-specific analysers (HuggingFace, PyTorch Lightning) without modifying core.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515600" cy="1371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7200" b="1" i="0">
                <a:solidFill>
                  <a:srgbClr val="1E40A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51560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3200" b="0" i="1">
                <a:solidFill>
                  <a:srgbClr val="0F172A"/>
                </a:solidFill>
                <a:latin typeface="Calibri"/>
              </a:rPr>
              <a:t>Questions?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4114800"/>
            <a:ext cx="758952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0" y="4297680"/>
            <a:ext cx="2286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1" i="0">
                <a:solidFill>
                  <a:srgbClr val="6B7280"/>
                </a:solidFill>
                <a:latin typeface="Calibri"/>
              </a:rP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4297680"/>
            <a:ext cx="5029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0" i="0">
                <a:solidFill>
                  <a:srgbClr val="1E40AF"/>
                </a:solidFill>
                <a:latin typeface="Consolas"/>
              </a:rPr>
              <a:t>github.com/hakansabunis/mlcompass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4754880"/>
            <a:ext cx="2286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1" i="0">
                <a:solidFill>
                  <a:srgbClr val="6B7280"/>
                </a:solidFill>
                <a:latin typeface="Calibri"/>
              </a:rPr>
              <a:t>Install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4754880"/>
            <a:ext cx="5029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0" i="0">
                <a:solidFill>
                  <a:srgbClr val="1E40AF"/>
                </a:solidFill>
                <a:latin typeface="Consolas"/>
              </a:rPr>
              <a:t>pip install mlcompass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5212080"/>
            <a:ext cx="2286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1" i="0">
                <a:solidFill>
                  <a:srgbClr val="6B7280"/>
                </a:solidFill>
                <a:latin typeface="Calibri"/>
              </a:rPr>
              <a:t>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5212080"/>
            <a:ext cx="5029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0" i="0">
                <a:solidFill>
                  <a:srgbClr val="1E40AF"/>
                </a:solidFill>
                <a:latin typeface="Consolas"/>
              </a:rPr>
              <a:t>paper/Capstone_Report.pdf  in the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5669280"/>
            <a:ext cx="2286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1" i="0">
                <a:solidFill>
                  <a:srgbClr val="6B7280"/>
                </a:solidFill>
                <a:latin typeface="Calibri"/>
              </a:rPr>
              <a:t>Authors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669280"/>
            <a:ext cx="50292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0" i="0">
                <a:solidFill>
                  <a:srgbClr val="1E40AF"/>
                </a:solidFill>
                <a:latin typeface="Calibri"/>
              </a:rPr>
              <a:t>Hakan Sabuniş   ·   Yusuf Ünlü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1613</Words>
  <Application>Microsoft Office PowerPoint</Application>
  <PresentationFormat>Widescreen</PresentationFormat>
  <Paragraphs>207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Hakan Sabunis</cp:lastModifiedBy>
  <cp:revision>2</cp:revision>
  <dcterms:created xsi:type="dcterms:W3CDTF">2013-01-27T09:14:16Z</dcterms:created>
  <dcterms:modified xsi:type="dcterms:W3CDTF">2026-06-08T13:44:15Z</dcterms:modified>
  <cp:category/>
</cp:coreProperties>
</file>